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man Ortiz" userId="92bbfa3569108098" providerId="LiveId" clId="{190B2967-EBC9-4C91-A6CC-53CAF60D95A4}"/>
    <pc:docChg chg="undo custSel modSld">
      <pc:chgData name="German Ortiz" userId="92bbfa3569108098" providerId="LiveId" clId="{190B2967-EBC9-4C91-A6CC-53CAF60D95A4}" dt="2026-03-06T03:09:40.254" v="22" actId="1076"/>
      <pc:docMkLst>
        <pc:docMk/>
      </pc:docMkLst>
      <pc:sldChg chg="delSp mod">
        <pc:chgData name="German Ortiz" userId="92bbfa3569108098" providerId="LiveId" clId="{190B2967-EBC9-4C91-A6CC-53CAF60D95A4}" dt="2026-03-06T03:03:56.847" v="0" actId="478"/>
        <pc:sldMkLst>
          <pc:docMk/>
          <pc:sldMk cId="0" sldId="257"/>
        </pc:sldMkLst>
        <pc:spChg chg="del">
          <ac:chgData name="German Ortiz" userId="92bbfa3569108098" providerId="LiveId" clId="{190B2967-EBC9-4C91-A6CC-53CAF60D95A4}" dt="2026-03-06T03:03:56.847" v="0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German Ortiz" userId="92bbfa3569108098" providerId="LiveId" clId="{190B2967-EBC9-4C91-A6CC-53CAF60D95A4}" dt="2026-03-06T03:04:18.402" v="1" actId="478"/>
        <pc:sldMkLst>
          <pc:docMk/>
          <pc:sldMk cId="0" sldId="258"/>
        </pc:sldMkLst>
        <pc:spChg chg="del">
          <ac:chgData name="German Ortiz" userId="92bbfa3569108098" providerId="LiveId" clId="{190B2967-EBC9-4C91-A6CC-53CAF60D95A4}" dt="2026-03-06T03:04:18.402" v="1" actId="478"/>
          <ac:spMkLst>
            <pc:docMk/>
            <pc:sldMk cId="0" sldId="258"/>
            <ac:spMk id="3" creationId="{00000000-0000-0000-0000-000000000000}"/>
          </ac:spMkLst>
        </pc:spChg>
      </pc:sldChg>
      <pc:sldChg chg="delSp modSp mod">
        <pc:chgData name="German Ortiz" userId="92bbfa3569108098" providerId="LiveId" clId="{190B2967-EBC9-4C91-A6CC-53CAF60D95A4}" dt="2026-03-06T03:04:46.796" v="5" actId="1076"/>
        <pc:sldMkLst>
          <pc:docMk/>
          <pc:sldMk cId="0" sldId="259"/>
        </pc:sldMkLst>
        <pc:spChg chg="del">
          <ac:chgData name="German Ortiz" userId="92bbfa3569108098" providerId="LiveId" clId="{190B2967-EBC9-4C91-A6CC-53CAF60D95A4}" dt="2026-03-06T03:04:38.142" v="4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4:46.796" v="5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">
        <pc:chgData name="German Ortiz" userId="92bbfa3569108098" providerId="LiveId" clId="{190B2967-EBC9-4C91-A6CC-53CAF60D95A4}" dt="2026-03-06T03:07:31.560" v="6" actId="478"/>
        <pc:sldMkLst>
          <pc:docMk/>
          <pc:sldMk cId="0" sldId="260"/>
        </pc:sldMkLst>
        <pc:spChg chg="del">
          <ac:chgData name="German Ortiz" userId="92bbfa3569108098" providerId="LiveId" clId="{190B2967-EBC9-4C91-A6CC-53CAF60D95A4}" dt="2026-03-06T03:07:31.560" v="6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Sp mod">
        <pc:chgData name="German Ortiz" userId="92bbfa3569108098" providerId="LiveId" clId="{190B2967-EBC9-4C91-A6CC-53CAF60D95A4}" dt="2026-03-06T03:08:06.708" v="10" actId="1076"/>
        <pc:sldMkLst>
          <pc:docMk/>
          <pc:sldMk cId="0" sldId="261"/>
        </pc:sldMkLst>
        <pc:spChg chg="del">
          <ac:chgData name="German Ortiz" userId="92bbfa3569108098" providerId="LiveId" clId="{190B2967-EBC9-4C91-A6CC-53CAF60D95A4}" dt="2026-03-06T03:07:40.369" v="7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7:47.238" v="8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7:56.283" v="9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8:06.708" v="10" actId="1076"/>
          <ac:spMkLst>
            <pc:docMk/>
            <pc:sldMk cId="0" sldId="261"/>
            <ac:spMk id="15" creationId="{00000000-0000-0000-0000-000000000000}"/>
          </ac:spMkLst>
        </pc:spChg>
      </pc:sldChg>
      <pc:sldChg chg="delSp mod">
        <pc:chgData name="German Ortiz" userId="92bbfa3569108098" providerId="LiveId" clId="{190B2967-EBC9-4C91-A6CC-53CAF60D95A4}" dt="2026-03-06T03:08:14.212" v="11" actId="478"/>
        <pc:sldMkLst>
          <pc:docMk/>
          <pc:sldMk cId="0" sldId="262"/>
        </pc:sldMkLst>
        <pc:spChg chg="del">
          <ac:chgData name="German Ortiz" userId="92bbfa3569108098" providerId="LiveId" clId="{190B2967-EBC9-4C91-A6CC-53CAF60D95A4}" dt="2026-03-06T03:08:14.212" v="11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German Ortiz" userId="92bbfa3569108098" providerId="LiveId" clId="{190B2967-EBC9-4C91-A6CC-53CAF60D95A4}" dt="2026-03-06T03:08:48.424" v="14" actId="1076"/>
        <pc:sldMkLst>
          <pc:docMk/>
          <pc:sldMk cId="0" sldId="263"/>
        </pc:sldMkLst>
        <pc:spChg chg="del">
          <ac:chgData name="German Ortiz" userId="92bbfa3569108098" providerId="LiveId" clId="{190B2967-EBC9-4C91-A6CC-53CAF60D95A4}" dt="2026-03-06T03:08:21.058" v="12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8:42.662" v="13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8:48.424" v="14" actId="1076"/>
          <ac:spMkLst>
            <pc:docMk/>
            <pc:sldMk cId="0" sldId="263"/>
            <ac:spMk id="28" creationId="{00000000-0000-0000-0000-000000000000}"/>
          </ac:spMkLst>
        </pc:spChg>
      </pc:sldChg>
      <pc:sldChg chg="delSp mod">
        <pc:chgData name="German Ortiz" userId="92bbfa3569108098" providerId="LiveId" clId="{190B2967-EBC9-4C91-A6CC-53CAF60D95A4}" dt="2026-03-06T03:08:54.535" v="15" actId="478"/>
        <pc:sldMkLst>
          <pc:docMk/>
          <pc:sldMk cId="0" sldId="264"/>
        </pc:sldMkLst>
        <pc:spChg chg="del">
          <ac:chgData name="German Ortiz" userId="92bbfa3569108098" providerId="LiveId" clId="{190B2967-EBC9-4C91-A6CC-53CAF60D95A4}" dt="2026-03-06T03:08:54.535" v="15" actId="478"/>
          <ac:spMkLst>
            <pc:docMk/>
            <pc:sldMk cId="0" sldId="264"/>
            <ac:spMk id="3" creationId="{00000000-0000-0000-0000-000000000000}"/>
          </ac:spMkLst>
        </pc:spChg>
      </pc:sldChg>
      <pc:sldChg chg="delSp mod">
        <pc:chgData name="German Ortiz" userId="92bbfa3569108098" providerId="LiveId" clId="{190B2967-EBC9-4C91-A6CC-53CAF60D95A4}" dt="2026-03-06T03:08:59.264" v="16" actId="478"/>
        <pc:sldMkLst>
          <pc:docMk/>
          <pc:sldMk cId="0" sldId="265"/>
        </pc:sldMkLst>
        <pc:spChg chg="del">
          <ac:chgData name="German Ortiz" userId="92bbfa3569108098" providerId="LiveId" clId="{190B2967-EBC9-4C91-A6CC-53CAF60D95A4}" dt="2026-03-06T03:08:59.264" v="16" actId="478"/>
          <ac:spMkLst>
            <pc:docMk/>
            <pc:sldMk cId="0" sldId="265"/>
            <ac:spMk id="3" creationId="{00000000-0000-0000-0000-000000000000}"/>
          </ac:spMkLst>
        </pc:spChg>
      </pc:sldChg>
      <pc:sldChg chg="delSp modSp mod">
        <pc:chgData name="German Ortiz" userId="92bbfa3569108098" providerId="LiveId" clId="{190B2967-EBC9-4C91-A6CC-53CAF60D95A4}" dt="2026-03-06T03:09:40.254" v="22" actId="1076"/>
        <pc:sldMkLst>
          <pc:docMk/>
          <pc:sldMk cId="0" sldId="267"/>
        </pc:sldMkLst>
        <pc:spChg chg="del">
          <ac:chgData name="German Ortiz" userId="92bbfa3569108098" providerId="LiveId" clId="{190B2967-EBC9-4C91-A6CC-53CAF60D95A4}" dt="2026-03-06T03:09:09.166" v="17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9:28.242" v="20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9:17.440" v="18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9:36.325" v="21" actId="107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German Ortiz" userId="92bbfa3569108098" providerId="LiveId" clId="{190B2967-EBC9-4C91-A6CC-53CAF60D95A4}" dt="2026-03-06T03:09:40.254" v="22" actId="1076"/>
          <ac:spMkLst>
            <pc:docMk/>
            <pc:sldMk cId="0" sldId="267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56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🎓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0"/>
          </a:xfrm>
          <a:prstGeom prst="rect">
            <a:avLst/>
          </a:prstGeom>
          <a:noFill/>
          <a:ln/>
          <a:effectLst>
            <a:outerShdw blurRad="127000" dist="38100" dir="162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KidVision Student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01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0D4FF"/>
                </a:solidFill>
              </a:rPr>
              <a:t>Empowering Students to Own Their Learning Journey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601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B5FD"/>
                </a:solidFill>
              </a:rPr>
              <a:t>A Modern, District-Compliant Progress Tracking Solution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103601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A0E0"/>
                </a:solidFill>
              </a:rPr>
              <a:t>Presented by Mr. Ortiz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📋 The Challenge We're Solving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</a:rPr>
              <a:t>Current State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</a:rPr>
              <a:t>• Students rarely see their own progress data
• Assessment results live in teacher gradebooks
• Limited student engagement with learning goals
• Data is numbers without context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0" y="1188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</a:rPr>
              <a:t>What Research Shows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</a:rPr>
              <a:t>• Effect size of 1.33 for self-reported grades (Hattie, 2023)
• Self-assessment improves achievement by 0.5-0.7 effect size
• Formative feedback doubles learning gains (Black &amp; Wiliam)
• Goal-setting effect size: 0.68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0515600" cy="1280160"/>
          </a:xfrm>
          <a:prstGeom prst="rect">
            <a:avLst/>
          </a:prstGeom>
          <a:solidFill>
            <a:srgbClr val="1A10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78BFA"/>
                </a:solidFill>
              </a:rPr>
              <a:t>"When students become their own teachers, they exhibit the self-regulatory attributes that seem most desirable for learners."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A78BFA"/>
                </a:solidFill>
              </a:rPr>
              <a:t>— John Hattie, Visible Learning (2009)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669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📚 Hattie (2023) Visible Learning • Black &amp; Wiliam (1998) Inside the Black Box • Zimmerman (2002) Self-Regulated Learning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💡 Our Solution: KidVision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</a:rPr>
              <a:t>A student-facing dashboard that transforms assessment data into an engaging, gamified experience while maintaining complete district data compliance.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3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Visual Progress Tracking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Charts and progress bars across Math, Reading, and Science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3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🎮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0" y="219456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Points-Based Motivation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7432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Every assessment earns points toward a 500-point goal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3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554480" y="402336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Local Data Storage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5720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Data saved in browser localStorage — no servers, no internet needed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3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✏️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315200" y="402336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Student Data Entry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0" y="45720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Students enter their own scores, building ownership and responsibility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🏆 The Points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50714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</a:rPr>
              <a:t>Students earn points based on assessment performance, creating intrinsic motivation to improve: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A1A3E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Quizzes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5-15 pts each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A1A3E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Unit Tests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8346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5-15 pts each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A1A3E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23774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FAST PM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15-25 pts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16459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A1A3E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0" y="17373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⭐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961120" y="23774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 Tests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0" y="28346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15-25 pts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</a:rPr>
              <a:t>Points Scale by Performance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09728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Score Range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Points Earned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Message to Student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CCCC"/>
                          </a:solidFill>
                        </a:rPr>
                        <a:t>70-79%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</a:rPr>
                        <a:t>+5 points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CCCC"/>
                          </a:solidFill>
                        </a:rPr>
                        <a:t>"Good effort! Keep practicing!"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CCCC"/>
                          </a:solidFill>
                        </a:rPr>
                        <a:t>80-89%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</a:rPr>
                        <a:t>+7 points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CCCC"/>
                          </a:solidFill>
                        </a:rPr>
                        <a:t>"Great job! You're getting it!"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CCCC"/>
                          </a:solidFill>
                        </a:rPr>
                        <a:t>90-99%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</a:rPr>
                        <a:t>+9 points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CCCC"/>
                          </a:solidFill>
                        </a:rPr>
                        <a:t>"Excellent work!"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CCCC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</a:rPr>
                        <a:t>+15 points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CCCC"/>
                          </a:solidFill>
                        </a:rPr>
                        <a:t>"Perfect score! Amazing!"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🖥️ What Students See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515600" cy="4572000"/>
          </a:xfrm>
          <a:prstGeom prst="roundRect">
            <a:avLst>
              <a:gd name="adj" fmla="val 4000"/>
            </a:avLst>
          </a:prstGeom>
          <a:solidFill>
            <a:srgbClr val="1E1E3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🔢 Math Progress Dashboard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0" y="13716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8B5CF6"/>
                </a:solidFill>
              </a:rPr>
              <a:t>340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0" y="21031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CCCCC"/>
                </a:solidFill>
              </a:rPr>
              <a:t>/ 500 points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468880"/>
            <a:ext cx="9601200" cy="457200"/>
          </a:xfrm>
          <a:prstGeom prst="roundRect">
            <a:avLst>
              <a:gd name="adj" fmla="val 50000"/>
            </a:avLst>
          </a:prstGeom>
          <a:solidFill>
            <a:srgbClr val="0A0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2468880"/>
            <a:ext cx="649224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68%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2918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5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📝 Quizzes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8404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</a:rPr>
              <a:t>85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566160" y="32918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5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33832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📋 Unit Tests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8404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899"/>
                </a:solidFill>
              </a:rPr>
              <a:t>120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5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33832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🎯 FAST PM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8404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</a:rPr>
              <a:t>75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8503920" y="32918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51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0" y="33832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⭐ STAR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38404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60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5120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Bar charts show individual scores • Progress meter shows journey to 500 points • Color-coded feedback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📚 Three Core Subject Areas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</a:rPr>
              <a:t>Each student has a single data file containing progress across all subjects: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474720" cy="3840480"/>
          </a:xfrm>
          <a:prstGeom prst="roundRect">
            <a:avLst>
              <a:gd name="adj" fmla="val 3947"/>
            </a:avLst>
          </a:prstGeom>
          <a:solidFill>
            <a:srgbClr val="1A1A3E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🔢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363893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Mathematics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Quizzes &amp; Unit Tests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FAST Progress Monitoring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STAR Math Assessments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Percentage &amp; Scale Scores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474720" cy="3840480"/>
          </a:xfrm>
          <a:prstGeom prst="roundRect">
            <a:avLst>
              <a:gd name="adj" fmla="val 3947"/>
            </a:avLst>
          </a:prstGeom>
          <a:solidFill>
            <a:srgbClr val="1A1A3E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📖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242646" y="2363893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4899"/>
                </a:solidFill>
              </a:rPr>
              <a:t>Reading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Reading Comprehension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FAST ELA Monitoring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STAR Reading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Fluency Assessments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474720" cy="3840480"/>
          </a:xfrm>
          <a:prstGeom prst="roundRect">
            <a:avLst>
              <a:gd name="adj" fmla="val 3947"/>
            </a:avLst>
          </a:prstGeom>
          <a:solidFill>
            <a:srgbClr val="1A1A3E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0" y="18288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🔬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138160" y="2382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Science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32004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Unit Assessments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Lab Reports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Science Benchmarks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Project Scores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0" y="566928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A1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CCCC"/>
                </a:solidFill>
              </a:rPr>
              <a:t>📁 One file per student:  kidvision-Emma.json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🔒 Data Security &amp; Compliance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</a:rPr>
              <a:t>KidVision runs 100% locally — no servers, no databases, no internet required.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0A2520"/>
          </a:solidFill>
          <a:ln w="12700">
            <a:solidFill>
              <a:srgbClr val="1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🏫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No External Servers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Everything runs on the student's local computer. No data leaves the machine.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0A2520"/>
          </a:solidFill>
          <a:ln w="12700">
            <a:solidFill>
              <a:srgbClr val="1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23760" y="182880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No Authentication Needed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37744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Students just type their first name. No passwords, no accounts to manage.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0A2520"/>
          </a:solidFill>
          <a:ln w="12700">
            <a:solidFill>
              <a:srgbClr val="1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63040" y="365760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Browser localStorage Only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0624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Data is stored in the browser's built-in localStorage — private to that computer.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47472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0A2520"/>
          </a:solidFill>
          <a:ln w="12700">
            <a:solidFill>
              <a:srgbClr val="1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23760" y="365760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FERPA Compliant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420624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No student information is transmitted anywhere. Zero network activity.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0A252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3035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</a:rPr>
              <a:t>✅ Single HTML file (55 KB) — IT can review every line of source code. No hidden functionality.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⚙️ 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80160" y="11887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</a:rPr>
              <a:t>Student Opens 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Double-click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kidvision.html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188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5CF6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206240" y="11887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</a:rPr>
              <a:t>Types Their Name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5603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First name only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(one-time)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188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5CF6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132320" y="11887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</a:rPr>
              <a:t>Enters Scores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After getting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assessment back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11887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5CF6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0058400" y="11887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35440" y="21031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</a:rPr>
              <a:t>Watches Points Grow!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256032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Visual progress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toward 500 pts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0A2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5661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✅ Benefits of Student Data Entry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7653" y="4478866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Ownership — Students take responsibility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Reflection — They review their own progress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No Teacher Burden — Zero extra work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Immediate — Students enter right away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Privacy — Data stays on their computer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347472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1A1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35661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👨‍🎓 Student Experience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4627033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Open kidvision.html in Edge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Type first name (one time only)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Click "Add Assessment" button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Select type (Quiz, Test, FAST, STAR)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Enter score and date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</a:rPr>
              <a:t>• See points earned instantly!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✨ Benefits for Everyone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A1040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👨‍🎓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</a:rPr>
              <a:t>For Students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Enter their own scores, see progress visually, take ownership of learning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A1040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0" y="12801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👩‍🏫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1920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</a:rPr>
              <a:t>For Teachers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Zero extra work — students do the data entry! Just return graded assessments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A1040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12801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👨‍👩‍👧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138160" y="1920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</a:rPr>
              <a:t>For Parents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Can view child's dashboard together, concrete conversation starters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A1040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🏫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</a:rPr>
              <a:t>For Administration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Supports data-driven culture, builds student responsibility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4747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A1040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0" y="35661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297680" y="4206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</a:rPr>
              <a:t>For IT Department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45720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One-time 30-second setup, no maintenance, no servers to manage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4747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A1040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38160" y="35661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138160" y="42062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</a:rPr>
              <a:t>For Budget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45720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No licensing fees, no subscriptions — completely free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5760720"/>
            <a:ext cx="9144000" cy="640080"/>
          </a:xfrm>
          <a:prstGeom prst="roundRect">
            <a:avLst>
              <a:gd name="adj" fmla="val 14286"/>
            </a:avLst>
          </a:prstGeom>
          <a:solidFill>
            <a:srgbClr val="1A1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1600" y="5760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78BFA"/>
                </a:solidFill>
              </a:rPr>
              <a:t>"When students enter their own data, they become active participants in tracking their growth."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📅 Implementation Timeline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</a:rPr>
              <a:t>Day 1: IT 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Edge browser setting change (30 seconds)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737360"/>
            <a:ext cx="0" cy="640080"/>
          </a:xfrm>
          <a:prstGeom prst="line">
            <a:avLst/>
          </a:prstGeom>
          <a:noFill/>
          <a:ln w="25400">
            <a:solidFill>
              <a:srgbClr val="5555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366F1"/>
                </a:solidFill>
              </a:rPr>
              <a:t>Day 1: Deploy File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6974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Copy kidvision.html to student computers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2926080"/>
            <a:ext cx="0" cy="640080"/>
          </a:xfrm>
          <a:prstGeom prst="line">
            <a:avLst/>
          </a:prstGeom>
          <a:noFill/>
          <a:ln w="25400">
            <a:solidFill>
              <a:srgbClr val="5555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566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Week 1: Pilot Class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8862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Introduce dashboard, students start entering scores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4114800"/>
            <a:ext cx="0" cy="640080"/>
          </a:xfrm>
          <a:prstGeom prst="line">
            <a:avLst/>
          </a:prstGeom>
          <a:noFill/>
          <a:ln w="25400">
            <a:solidFill>
              <a:srgbClr val="5555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4754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Week 2+: Expand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50749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Roll out to additional classrooms based on success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486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~30 sec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57200" y="5943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IT Setup Time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548640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0" y="5486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0 min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297680" y="5943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Teacher Setup Per Student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548640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A1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38160" y="5486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$0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138160" y="5943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Additional Cost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🚀 Ready to Empower Our Students?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1FAE5"/>
                </a:solidFill>
              </a:rPr>
              <a:t>KidVision transforms how students interact with their academic progress — using tools we already have, with zero compliance concerns.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Approve IT 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FAE5"/>
                </a:solidFill>
              </a:rPr>
              <a:t>30-second browser setting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32004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32918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👩‍🏫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Select Pilot Class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4480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FAE5"/>
                </a:solidFill>
              </a:rPr>
              <a:t>One classroom to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3200400"/>
            <a:ext cx="3291840" cy="2011680"/>
          </a:xfrm>
          <a:prstGeom prst="roundRect">
            <a:avLst>
              <a:gd name="adj" fmla="val 6818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32918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12480" y="39319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Watch Students Thrive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44805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FAE5"/>
                </a:solidFill>
              </a:rPr>
              <a:t>Increased engagement &amp; ownership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0" y="576072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Next slide: What we need from IT →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78BFA"/>
                </a:solidFill>
              </a:rPr>
              <a:t>🔧 What We Need From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</a:rPr>
              <a:t>One simple browser setting change — no software installs, no servers, no maintenance.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0972800" cy="1737360"/>
          </a:xfrm>
          <a:prstGeom prst="roundRect">
            <a:avLst>
              <a:gd name="adj" fmla="val 6316"/>
            </a:avLst>
          </a:prstGeom>
          <a:solidFill>
            <a:srgbClr val="0F1A3E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Step 1: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Allow JavaScript for ONE local HTML file in Edge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Go to: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63040" y="214884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0A0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edge://settings/content/javascript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Under "Allow", add: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2606040"/>
            <a:ext cx="5943600" cy="365760"/>
          </a:xfrm>
          <a:prstGeom prst="roundRect">
            <a:avLst>
              <a:gd name="adj" fmla="val 12500"/>
            </a:avLst>
          </a:prstGeom>
          <a:solidFill>
            <a:srgbClr val="0A0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file:///C:/KidVision/kidvision.html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0F1A3E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Step 2: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20240" y="3611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Place ONE file on student computers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10424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</a:rPr>
              <a:t>Copy  kidvision.html  (55 KB) to  C:\KidVision\  on each student machine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0A2520"/>
          </a:solidFill>
          <a:ln w="12700">
            <a:solidFill>
              <a:srgbClr val="1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🔒 No Internet Required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40004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Runs 100% offline.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No data leaves the computer.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4754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0A2520"/>
          </a:solidFill>
          <a:ln w="12700">
            <a:solidFill>
              <a:srgbClr val="1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48006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📄 Single HTML File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5394113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Just HTML, CSS &amp; JS.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No executables. Fully reviewable.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4754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0A2520"/>
          </a:solidFill>
          <a:ln w="12700">
            <a:solidFill>
              <a:srgbClr val="1A5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💾 Local Storage Only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5394113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Data in browser localStorage.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Nothing is transmitted.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0" y="6035040"/>
            <a:ext cx="9144000" cy="548640"/>
          </a:xfrm>
          <a:prstGeom prst="roundRect">
            <a:avLst>
              <a:gd name="adj" fmla="val 13333"/>
            </a:avLst>
          </a:prstGeom>
          <a:solidFill>
            <a:srgbClr val="1A1A3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0" y="6035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BF24"/>
                </a:solidFill>
              </a:rPr>
              <a:t>⏱️ Total IT time required: less than 5 minutes  |  Source code available for review (1,199 lines)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1086</Words>
  <Application>Microsoft Office PowerPoint</Application>
  <PresentationFormat>Widescreen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KidVision Student Dashboard</dc:title>
  <dc:subject>PptxGenJS Presentation</dc:subject>
  <dc:creator>Mr. Ortiz</dc:creator>
  <cp:lastModifiedBy>German Ortiz</cp:lastModifiedBy>
  <cp:revision>1</cp:revision>
  <dcterms:created xsi:type="dcterms:W3CDTF">2026-03-06T03:01:21Z</dcterms:created>
  <dcterms:modified xsi:type="dcterms:W3CDTF">2026-03-06T03:09:47Z</dcterms:modified>
</cp:coreProperties>
</file>